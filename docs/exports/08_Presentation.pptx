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the guide and the project name. Say at once that it is a university project with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Indian GST example because the audience recognises it. Stress that nobody is lying; the same word means different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objective to a result later in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one-minute product tour using the use-case diagram: four roles, each with a distinct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analytics never touch the transactional database; DuckDB reads Parquet files produced by ingestion.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that the guarantee is in the database, so a bug in the application cannot break it. Verified on real PostgreSQL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user text ever becomes SQL text. That is why injection is structurally impossible rather than filtered.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candid: the cases were written by me, so this shows the rules behave as designed and is not an independent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sequence diagram. Mention the offline deterministic mode and that no live AI key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'last quarter' resolves to the last completed fiscal quarter, and 'this year' to the financial year to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live demo here (8 minutes). The screenshot is a backup if the demo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of the test-case table in the report is linked to a measured result, so the table cannot claim a pass that did not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Single-user numbers from one Windows machine. Say clearly that there was no load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these before the examiner asks. It builds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contribution: an integrated, tested, honest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The Viva Preparation document lists forty likely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11111"/>
                </a:solidFill>
                <a:latin typeface="Calibri"/>
              </a:rPr>
              <a:t>IntelliMetrics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555555"/>
                </a:solidFill>
                <a:latin typeface="Calibri"/>
              </a:rPr>
              <a:t>A governed semantic layer with TARA, an AI assistant for trusted business metrics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55555"/>
                </a:solidFill>
                <a:latin typeface="Calibri"/>
              </a:rPr>
              <a:t>Devi Priya, Priyanka, Akshay and Bhaskar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55555"/>
                </a:solidFill>
                <a:latin typeface="Calibri"/>
              </a:rPr>
              <a:t>KL University | AY 2026-27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555555"/>
                </a:solidFill>
                <a:latin typeface="Calibri"/>
              </a:rPr>
              <a:t>University project (academic capstone). Demonstration data is synthetic.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The problem: one word, many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Sales: Revenue = taxable value of goods sold (excluding GST)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Finance: Revenue = sales less refunds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Marketing: Revenue = invoice value including GST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Nobody notices until two reports disagree; changes are not recorded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Generic AI chatbots answer confidently even when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One governed live definition per business metric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Detect conflicting definitions automatically and measure the detector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Immutable version history with safe rollback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Let non-technical users ask questions without risking wrong or unsafe queries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Localise to India: INR (lakh/crore), April-March FY, GST, festivals, 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The solution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Datasets in, governed metrics and dashboards out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Workflow: draft, review, approve, publish (exactly one live per metric)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Conflict centre: assign, review, approve, resolve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Formula Lab: safe, parameterised execution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Ask TARA: plain-English questions answered from approved metrics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96 API endpoints | 25 pages | 4 roles | 2 isolated workspaces</a:t>
            </a:r>
          </a:p>
        </p:txBody>
      </p:sp>
      <p:pic>
        <p:nvPicPr>
          <p:cNvPr id="5" name="Picture 4" descr="14_use_case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965" y="1371600"/>
            <a:ext cx="232551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React + TypeScript single-page app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FastAPI back end: RBAC on every route, workspace filter on every query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PostgreSQL / SQLite for metadata, DuckDB + Parquet for analytics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Celery + Redis for background ingestion (thread fallback)</a:t>
            </a:r>
          </a:p>
        </p:txBody>
      </p:sp>
      <p:pic>
        <p:nvPicPr>
          <p:cNvPr id="5" name="Picture 4" descr="01_high_leve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825896"/>
            <a:ext cx="5212080" cy="19377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Governance: versions that cannot be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Partial unique index: one live definition per metric key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Version rows immutable: ORM guard + database trigger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Rollback creates a NEW version; history is never rewritten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Dashboards follow latest published or pinned versions</a:t>
            </a:r>
          </a:p>
        </p:txBody>
      </p:sp>
      <p:pic>
        <p:nvPicPr>
          <p:cNvPr id="5" name="Picture 4" descr="08_metric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20382"/>
            <a:ext cx="5212080" cy="35487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A formula engine that cannot be injected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Lexer, recursive-descent parser, typed syntax tree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Whitelisted functions; columns checked against the schema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Every value is a bound parameter; division is zero-safe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Limits: 2,000 characters, depth 40, 10,000 rows, 20 s timeout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25 hostile inputs tested: all rejected before execution</a:t>
            </a:r>
          </a:p>
        </p:txBody>
      </p:sp>
      <p:pic>
        <p:nvPicPr>
          <p:cNvPr id="5" name="Picture 4" descr="06_formula_compil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6636" y="1371600"/>
            <a:ext cx="3026168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Automatic conflict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Compares formula, aggregation, filters, unit, time window, dataset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Severity score, side-by-side diff, recommended resolution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27 labelled cases: precision 1.00, recall 1.00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Plain text comparison baseline: precision 0.55, recall 0.81</a:t>
            </a:r>
          </a:p>
        </p:txBody>
      </p:sp>
      <p:pic>
        <p:nvPicPr>
          <p:cNvPr id="5" name="Picture 4" descr="07_conflict_detec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73728"/>
            <a:ext cx="5212080" cy="384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Ask TARA: the AI never writes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Question becomes a plan; the plan is validated against approved metrics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Same safe compiler runs it; the answer text is composed from rows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Compare ranges, second dimension, share of total, default fallbacks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Refuses when the data cannot answer</a:t>
            </a:r>
          </a:p>
        </p:txBody>
      </p:sp>
      <p:pic>
        <p:nvPicPr>
          <p:cNvPr id="5" name="Picture 4" descr="04_ask_tara_reques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23331"/>
            <a:ext cx="5212080" cy="33428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Built for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INR with lakh/crore grouping; compact forms ₹45 L, ₹1.2 Cr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Financial year 1 April to 31 March; fiscal quarters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GST: taxable value vs invoice value; slabs 0/5/12/18/28 %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Festival windows: Diwali, Dussehra, Pongal, Eid, Holi, End-of-Season sale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DD-MMM-YYYY dates in IST</a:t>
            </a:r>
          </a:p>
        </p:txBody>
      </p:sp>
      <p:pic>
        <p:nvPicPr>
          <p:cNvPr id="5" name="Picture 4" descr="12_fiscal_calendar_and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665" y="1371600"/>
            <a:ext cx="354411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Reviewer: detect and resolve the Revenue conflict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Analyst: Formula Lab, including a rejected injection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Business user: Diwali comparison and UPI vs COD split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Admin: audit log; other workspace: no cross-company data</a:t>
            </a:r>
          </a:p>
        </p:txBody>
      </p:sp>
      <p:pic>
        <p:nvPicPr>
          <p:cNvPr id="5" name="Picture 4" descr="41_ask_tara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65985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325 automated tests, 0 failed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pytest 136 (+ 136 on PostgreSQL 18), Vitest 40, Playwright 13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Back-end statement coverage 82.8 %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Security tests: injection, token forgery, CSRF, isolation, escalation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Every page screenshotted in light and dark mode</a:t>
            </a:r>
          </a:p>
        </p:txBody>
      </p:sp>
      <p:pic>
        <p:nvPicPr>
          <p:cNvPr id="5" name="Picture 4" descr="tests_by_su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512423"/>
            <a:ext cx="5212080" cy="2564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Measured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760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Query engine median 6.37 ms, p95 12.77 ms on 62,000 rows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Ingestion about 86,494 rows per second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Dashboard load 167.2 ms on average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Time-saving estimates rely on stated assumptions, not measurements</a:t>
            </a:r>
          </a:p>
        </p:txBody>
      </p:sp>
      <p:pic>
        <p:nvPicPr>
          <p:cNvPr id="5" name="Picture 4" descr="query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20381"/>
            <a:ext cx="5212080" cy="43487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Docker Compose tested on GitHub Actions, not on our own machines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No live AI provider tested; offline planner only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Synthetic data; no user study; no external security audit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Chromium only; no load test; per-process rate limiter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Verified instead: PostgreSQL 18.2, Redis + Celery, MySQL 8.0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Future scope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Evaluate with a real LLM on a held-out question set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Redis-backed rate limiting; e-mail delivery; single sign-on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Column-level security; connectors to real BI sources; user study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One definition, one history, answers you can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11111"/>
                </a:solidFill>
                <a:latin typeface="Calibri"/>
              </a:rPr>
              <a:t>Thank you.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Devi Priya, Priyanka, Akshay and Bhaskar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111"/>
                </a:solidFill>
                <a:latin typeface="Calibri"/>
              </a:rPr>
              <a:t>•  Documents: Project Report, Concept Note, Architecture, Testing Report, User Guide, Deployment Guide, Viva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Devi Priya, Priyanka, Akshay and Bhaskar | KL University | University project, synthetic demonstration data |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IntelliMetrics AI: Presentation</dc:title>
  <dc:subject/>
  <dc:creator>Devi Priya, Priyanka, Akshay and Bhaskar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